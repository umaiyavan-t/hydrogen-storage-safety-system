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000" b="1">
                <a:solidFill>
                  <a:srgbClr val="1B2A2E"/>
                </a:solidFill>
                <a:latin typeface="Cambria"/>
              </a:defRPr>
            </a:pPr>
            <a:r>
              <a:rPr sz="2000" b="1">
                <a:solidFill>
                  <a:srgbClr val="1B2A2E"/>
                </a:solidFill>
                <a:latin typeface="Cambria"/>
              </a:rPr>
              <a:t>Hydrogen Storage Facility Safety &amp; Monitoring System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Volatile Gaseous Hydrogen Hazards &amp; NFPA 2 Compliance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Functional Requirements: Real-Time 4s Telemetry, ESD Relief &amp; Remote Venting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System Architecture: React 18, Node.js + Express, Socket.io &amp; MongoDB 6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Operational Workflows: Safety Officer Calibration &amp; Remote Depressurization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MongoDB Schemas: Storage Vessels, Time-Series Telemetry &amp; Incident Audits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Module Capabilities: Simulation Cockpit, Spline Waveform &amp; 1-Click Healing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70% Phase 1 Milestone Verification, Technical Challenges &amp; Phase 2 Roadmap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Functional &amp; Non-Functional Safety Requirements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latin typeface="Cambria"/>
              </a:defRPr>
            </a:pPr>
            <a:r>
              <a:t>Functional Safety Requirements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Continuous 4-second physical telemetry (Pressure bar, Temp °C, H2 ppm, % LEL).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Dynamic safety limit calibration (Warning pressure, critical ESD relief ceilings).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Emergency Remote Pressure Vent override with incident audit logging.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1-Click alert resolution restoring vessel baselines in real time.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Preventive maintenance task tracking &amp; regulatory compliance register.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Zero-delay WebSocket alarm broadcasting to prevent explosive deflagration.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latin typeface="Cambria"/>
              </a:defRPr>
            </a:pPr>
            <a:r>
              <a:t>Non-Functional &amp; Compliance Standards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NFPA 2 Compliance: Hydrogen Technologies safety code thresholds enforced.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ISO 19880-1 &amp; OSHA 1910.103: Gaseous hydrogen fueling facility safety.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Sub-50ms Latency: Immediate WebSocket alert dispatch upon ceiling breach.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High-Write Telemetry Buffer: 25-point rolling window with compound indexing.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Fail-Safe Concurrency: Atomic relief valve actuation logging without race conditions.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Zero-Setup Deployment: 3-tier containerized stack orchestrated via Docker Compose.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System Architecture: Real-Time Industrial Safety MERN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CLIENT TIER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React 18 + Vite SPA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Cubic Bezier Spline Engine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Emergency Vent Console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Bento Grid (STRATIS Style)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APPLICATION TIER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Node.js + Express REST API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Socket.io Duplex WebSockets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4s Telemetry Heartbeat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Emergency Vent Controllers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>
                <a:solidFill>
                  <a:srgbClr val="FFFFFF"/>
                </a:solidFill>
                <a:latin typeface="Cambria"/>
              </a:defRPr>
            </a:pPr>
            <a:r>
              <a:t>DATA TIER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MongoDB 6 + Mongoose ODM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Storage Vessels &amp; Headers</a:t>
            </a:r>
            <a:endParaRPr lang="en-US" sz="115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Time-Series Telemetry Buffer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</a:rPr>
              <a:t>Incident &amp; Compliance Audits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Real-time physical telemetry streams over WebSockets every 4 seconds. Threshold breaches emit immediate alarms; emergency remote venting actuates valves and logs audit trails.</a:t>
            </a:r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Architectural Flow: Sensors -&gt; Simulator -&gt; Express -&gt; Socket.io -&gt; React Dashboard -&gt; 1-Click Depressurization -&gt; MongoDB Recovery.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Operational Use Cases &amp; Safety Actor Workflows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Plant Safety Officer: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Monitors high-pressure buffer headers (350 bar) &amp; cryogenic vessels in real time.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Dynamically tunes warning pressure and critical Emergency Shutdown (ESD) ceilings.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Actuates Emergency Remote Pressure Vent override during overpressure surges.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Resolves incident alerts, automatically restoring safe vessel baselines.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Instrumentation Technician &amp; Compliance Auditor: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Inspects physical sensor calibration across pressure transmitters &amp; PPM sniffer sensors.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Verifies NFPA 2 &amp; ISO 19880-1 safety compliance audit registers.</a:t>
            </a:r>
          </a:p>
          <a:p>
            <a:pPr algn="l">
              <a:spcAft>
                <a:spcPts val="400"/>
              </a:spcAft>
              <a:buNone/>
              <a:defRPr sz="950" b="0">
                <a:solidFill>
                  <a:srgbClr val="1B2A2E"/>
                </a:solidFill>
                <a:latin typeface="Calibri"/>
              </a:defRPr>
            </a:pPr>
            <a:r>
              <a:rPr sz="950" b="0">
                <a:solidFill>
                  <a:srgbClr val="1B2A2E"/>
                </a:solidFill>
                <a:latin typeface="Calibri"/>
              </a:rPr>
              <a:t>  - Dispatches and signs off preventative maintenance inspection work orders.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Incident Lifecycle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1. 4s Telemetry sensor stream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2. Pressure/PPM threshold breach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3. Live WebSocket incident banner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4. Safety Officer remote vent override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5. Valve opens, pressure depressurizes</a:t>
            </a:r>
            <a:endParaRPr lang="en-US" sz="1200" dirty="0"/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6. Baseline heals to 280 bar / 98% health</a:t>
            </a:r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7. Incident resolved &amp; audit logged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MongoDB Document Schemas &amp; Relationships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vessels (High-Pressure &amp; Cryogenic Storage)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vesselId, name, facilityLocation, type (BUFFER_HEADER, CRYOGENIC, TUBE_TRAILER)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operatingPressureBar, warningPressureBar, esdCeilingBar, currentTempC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h2ConcentrationPpm, flammabilityLel, healthScore, status (STABLE, WARNING, ESD)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telemetryreadings (Time-Series Stream)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vesselId, timestamp (Compound Indexed), pressureBar, tempC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h2ConcentrationPpm, flammabilityLel, incidentFlag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incidentalarms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alarmId (Unique), vesselId, severity (HIGH, CRITICAL), failureMode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readingValue, thresholdLimit, status (OPEN, RESOLVED), acknowledged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Collection: complianceaudits &amp; maintenanceorders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auditId, standardCode (NFPA 2, ISO 19880-1), complianceStatus, verificationDate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orderId, vesselId, title, checklist, scheduledDate, assignedOfficer, status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Schema Strengths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Compound indexing on (vesselId, timestamp)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Atomic pressure vent status updates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Rolling 25-point buffer for smooth spline charts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Formal foreign key links between vessels &amp; alarms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Zero-setup database auto-seeding on boot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Core Safety System Modules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Telemetry Simulator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Core Engine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Generates realistic 4s gas dynamics (Pressure, Cryo Temp, PPM, % LEL) over WebSockets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Dynamic Thresholds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Safety Config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Interactive calibration of Warning limits and Emergency Shutdown (ESD) relief ceilings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Remote Pressure Vent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Emergency Control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Console-actuated safety relief valve override with automated incident audit trail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Spline Area Chart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Cubic Bezier spline with dynamic auto-scaling, warning limit line, and pulsing beacon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Compliance Register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Auditing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NFPA 2, ISO 19880-1, and OSHA 1910 inspection checklist and audit tracker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Technology Stack &amp; Safety Infrastructure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MongoDB 6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NoSQL Time-Series Storage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Express.js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REST API &amp; Vent Controllers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React 18 + Vite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Modern Light UI &amp; SVG Spline</a:t>
            </a:r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Node.js v20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Asynchronous Telemetry Loop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Socket.io: Sub-50ms bidirectional WebSocket telemetry streaming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Docker &amp; Docker Compose: Multi-container deployment with isolated networking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Nginx Alpine: Production HTTP reverse proxy mapping API and WebSocket traffic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Mongoose ODM: Strict data modeling, validation schemas, and auto-seeder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00" b="0">
                <a:solidFill>
                  <a:srgbClr val="1B2A2E"/>
                </a:solidFill>
                <a:latin typeface="Calibri"/>
              </a:defRPr>
            </a:pPr>
            <a:r>
              <a:rPr sz="1000" b="0">
                <a:solidFill>
                  <a:srgbClr val="1B2A2E"/>
                </a:solidFill>
                <a:latin typeface="Calibri"/>
              </a:rPr>
              <a:t>Bespoke Light Theme: Hairline slate borders (#e2e8f0), zero AI fluff, high density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User Interface Design &amp; Layout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STRATIS-Inspired Industrial Bento Grid: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- 4 primary telemetry KPI cards: Vessel Pressure, Temperature, PPM Leak, and % LEL.</a:t>
            </a:r>
            <a:endParaRPr lang="en-US" sz="1400" dirty="0"/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Color-coded live badges: Green STABLE, Amber WARNING, Red EMERGENCY ESD.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Live Spline Area Telemetry Waveform: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Smooth cubic Bezier spline with live pulsing tip beacon.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Dashed red ESD ceiling limit line (350–420 bar).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Dropdown vessel selector with auto-focus upon overpressure.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Emergency Venting &amp; Incident Resolution: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Direct Emergency Depressurize button actuating virtual solenoid relief valves.</a:t>
            </a:r>
          </a:p>
          <a:p>
            <a:pPr algn="l">
              <a:spcAft>
                <a:spcPts val="400"/>
              </a:spcAft>
              <a:buNone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  - 1-Click Resolve instantly clearing alarms and restoring safe baselines.</a:t>
            </a:r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Design Tokens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Light theme with high contrast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Primary Accent: Royal Blue (#2563eb)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Hazard Red: #dc2626 &amp; Emerald: #059669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Slate border: #e2e8f0 &amp; Canvas: #f8fafc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Typography: Plus Jakarta Sans</a:t>
            </a:r>
            <a:endParaRPr lang="en-US" sz="1200" dirty="0"/>
          </a:p>
          <a:p>
            <a:pPr algn="l">
              <a:spcAft>
                <a:spcPts val="400"/>
              </a:spcAft>
              <a:buSzPct val="100000"/>
              <a:buChar char="▪"/>
              <a:defRPr sz="900" b="0">
                <a:solidFill>
                  <a:srgbClr val="1B2A2E"/>
                </a:solidFill>
                <a:latin typeface="Calibri"/>
              </a:defRPr>
            </a:pPr>
            <a:r>
              <a:rPr sz="900" b="0">
                <a:solidFill>
                  <a:srgbClr val="1B2A2E"/>
                </a:solidFill>
                <a:latin typeface="Calibri"/>
              </a:rPr>
              <a:t>Monospace: JetBrains Mono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Frontend Implementation Architecture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React 18 functional components with Vite tooling for instantaneous hot module replacement.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Custom SVG Spline Engine: Renders smooth cubic Bezier paths (C cp1, cp2, p) with zero heavy charting overhead.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Dynamic Auto-Scaling: Automatically calculates min/max bounds to highlight subtle pressure and thermal fluctuations.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WebSocket Event Listeners: Listens for telemetry:stream, incident:new, and vessel:update events.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Safety Override Console: Interactive remote vent confirmation modal preventing accidental actuation.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Clean Responsive Layout: 100% responsive Bento container grid with flex-shrink: 0 stability.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Completed Views: Facility Overview, Storage Vessels Roster, Live Area Waveform, Incident Alarms, Remote Venting Console, Compliance Register.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Backend Architecture &amp; Telemetry Engine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Node.js + Express HTTP server integrated directly with Socket.io WebSocket instance.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4-Second Telemetry Heartbeat: Simulates gas kinetics, pressure build-up, and ambient temperature dissipation.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Emergency Vent Controller: POST /api/vent/override safely depressurizes vessels to baseline and emits socket events.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Incident Resolution Endpoint: PATCH /api/incidents/:id/resolve restores healthy 280 bar / 98% health baseline.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Threshold Calibration Service: Dynamically validates and applies new operator warning and ESD trip limits.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Multi-Vessel Integrity Checks: Evaluates lingering alarms before restoring vessel status to nominal STABLE.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Endpoints: /api/overview, /api/vessels, /api/telemetry, /api/incidents, /api/vent/override, /api/compliance.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Database Integration &amp; Schema Design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MongoDB 6.0 engine running in an isolated Docker container with persistent volumes.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Strict Mongoose schemas enforcing physical unit validations (pressure &gt;= 0 bar, temp &gt;= -253°C).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Compound indexing on (vesselId, timestamp) for rapid telemetry history slicing.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Relational linking between Storage Vessels, Incident Alarms, and Maintenance Work Orders.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Zero-Setup Database Seeder: Populates realistic storage tanks, baseline telemetry, and NFPA audits on first boot.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Incident Lifecycle State Machine: OPEN -&gt; ACKNOWLEDGED -&gt; VENTED -&gt; RESOLVED.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Collections: vessels, telemetryreadings, incidentalarms, maintenanceorders, complianceaudits.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RESTful API Endpoints &amp; Real-Time Events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/api/overview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Fetches facility KPIs: average pressure, active leak count, and open incidents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/api/vessels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Retrieves complete storage roster (Buffer headers, Cryogenic tanks, Tube trailers)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/api/vent/override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Emergency Remote Vent: depressurizes vessel to safe baseline and logs audit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/api/incidents/:id/resolve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1-Click Resolve: heals vessel health to 98% and clears alarm across fleet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/api/thresholds/update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Calibrates dynamic Warning pressure and Emergency Shutdown (ESD) relief limits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/api/compliance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Returns compliance audit registers for NFPA 2, ISO 19880-1, and OSHA 1910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Implementation Status (70% Milestone Achieved)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Real-Time Telemetry &amp; Socket.IO</a:t>
            </a:r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Dynamic Safety Thresholds (NFPA 2)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Remote Pressure Vent Override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1-Click Incident Resolution &amp; Healing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Compliance Audit Register Tracker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100%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Overall Phase 1 Milestone Achieved</a:t>
            </a:r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3840479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70%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System Verification &amp; User Interface Views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  <p:pic>
        <p:nvPicPr>
          <p:cNvPr id="17" name="Picture 16" descr="hydroge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846320" cy="1783080"/>
          </a:xfrm>
          <a:prstGeom prst="rect">
            <a:avLst/>
          </a:prstGeom>
        </p:spPr>
      </p:pic>
      <p:pic>
        <p:nvPicPr>
          <p:cNvPr id="18" name="Picture 17" descr="hydrogen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4846320" cy="1783080"/>
          </a:xfrm>
          <a:prstGeom prst="rect">
            <a:avLst/>
          </a:prstGeom>
        </p:spPr>
      </p:pic>
      <p:pic>
        <p:nvPicPr>
          <p:cNvPr id="19" name="Picture 18" descr="hydrogen_vent_inc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94760"/>
            <a:ext cx="4846320" cy="1783080"/>
          </a:xfrm>
          <a:prstGeom prst="rect">
            <a:avLst/>
          </a:prstGeom>
        </p:spPr>
      </p:pic>
      <p:pic>
        <p:nvPicPr>
          <p:cNvPr id="20" name="Picture 19" descr="hydrogen_compli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94760"/>
            <a:ext cx="48463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Technical Challenges &amp; Adopted Solutions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Sub-50ms WebSocket latency under rapid telemetry pulses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Implemented lightweight binary event payloads with rolling 25-point buffer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Preventing race conditions during emergency remote venting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Atomic Mongoose findOneAndUpdate with immediate WebSocket broadcast lock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SVG rendering lag during rapid cubic spline updates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Optimized Bezier curve math using requestAnimationFrame and pure SVG paths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Ensuring full NFPA 2 safety margin compliance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850" b="0">
                          <a:solidFill>
                            <a:srgbClr val="1B2A2E"/>
                          </a:solidFill>
                          <a:latin typeface="Calibri"/>
                        </a:rPr>
                        <a:t>Enforced strict validation thresholds preventing operator overrides beyond safe limits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Remaining Scope &amp; Phase 2 Roadmap (30%)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Physical PLC / SCADA Ingestion: Implement Modbus TCP and OPC-UA drivers to connect real facility sensor transmitters.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Automated Flare Stack Actuation: Integrate electronic ignition triggers for emergency overpressure vent combustion.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Multi-Facility Fleet Geospatial Map: Add Mapbox / Leaflet views for monitoring multi-site hydrogen distribution networks.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Role-Based Access Control (RBAC): Implement strict MFA authentication for Certified Safety Officers.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Historical Big-Data Analytics: Integrate TimescaleDB or InfluxDB for multi-year pressure vessel fatigue tracking.</a:t>
            </a:r>
            <a:endParaRPr lang="en-US" sz="15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  <a:defRPr sz="1050" b="0">
                <a:solidFill>
                  <a:srgbClr val="1B2A2E"/>
                </a:solidFill>
                <a:latin typeface="Calibri"/>
              </a:defRPr>
            </a:pPr>
            <a:r>
              <a:rPr sz="1050" b="0">
                <a:solidFill>
                  <a:srgbClr val="1B2A2E"/>
                </a:solidFill>
                <a:latin typeface="Calibri"/>
              </a:rPr>
              <a:t>Final Production Handbook: Author complete safety compliance manual and disaster recovery runbooks.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1B2A2E"/>
                </a:solidFill>
                <a:latin typeface="Cambria"/>
              </a:defRPr>
            </a:pPr>
            <a:r>
              <a:rPr sz="1800" b="1">
                <a:solidFill>
                  <a:srgbClr val="1B2A2E"/>
                </a:solidFill>
                <a:latin typeface="Cambria"/>
              </a:rPr>
              <a:t>Regulatory Standards &amp; Technical References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NFPA 2: Hydrogen Technologies Code (National Fire Protection Association)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ISO 19880-1: Gaseous Hydrogen -- Fueling Stations -- Part 1: General Requirements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OSHA 1910.103: Occupational Safety and Health Standards -- Hydrogen Storage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rPr sz="900" b="0">
                          <a:solidFill>
                            <a:srgbClr val="1B2A2E"/>
                          </a:solidFill>
                          <a:latin typeface="Calibri"/>
                        </a:rPr>
                        <a:t>ASME Boiler and Pressure Vessel Code (BPVC) Section VIII: Rules for Construction of Pressure Vessels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 sz="1000" b="0">
                <a:solidFill>
                  <a:srgbClr val="7A8F8C"/>
                </a:solidFill>
                <a:latin typeface="Calibri"/>
              </a:defRPr>
            </a:pPr>
            <a:r>
              <a:rPr sz="1000" b="0">
                <a:solidFill>
                  <a:srgbClr val="7A8F8C"/>
                </a:solidFill>
                <a:latin typeface="Calibri"/>
              </a:rPr>
              <a:t>Review 1 &amp; 2  |  Hydrogen Storage Safety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